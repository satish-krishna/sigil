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0"/>
            <a:ext cx="73152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4592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spc="1200" kern="0" dirty="0">
                <a:solidFill>
                  <a:srgbClr val="F5F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SIGIL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914400" y="3108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Hardened Agent 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14400" y="3840480"/>
            <a:ext cx="1280160" cy="36576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06908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State-synchronized kernel. Zero-trust agents. Snapshot &amp; delta.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planner. Immutable audit. Checkpointed writes.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6217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Blueprint  ·  .NET 9 kernel  ·  Microsoft Agent Framework agents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22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SIGIL · A MARK OF POWER AND BINDING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B4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State-Synchronized Kernel — not another agent framework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"/>
            <a:ext cx="228600" cy="73152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828800"/>
            <a:ext cx="7132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Sigil manages, discovers, orchestrates, and observes remote domain-specific AI agents. It sits above Microsoft Agent Framework and provides the OS-level services individual agents shouldn't build themselves.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7132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 are ephemeral workers.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Kernel is the sole source of truth.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229600" y="1828800"/>
            <a:ext cx="3474720" cy="4114800"/>
          </a:xfrm>
          <a:prstGeom prst="roundRect">
            <a:avLst>
              <a:gd name="adj" fmla="val 2105"/>
            </a:avLst>
          </a:prstGeom>
          <a:solidFill>
            <a:srgbClr val="1E2761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0" y="1965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B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Pillars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0" y="242316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412480" y="26243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→ Delta (no callbacks)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0" y="292608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412480" y="312724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 + JWT + Sigil-Key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0" y="342900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412480" y="363016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Pre-flight validation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0" y="393192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12480" y="413308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 via ETags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12480" y="443484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0" y="463600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trail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0" y="493776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12480" y="51389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/ canary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0" y="544068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12480" y="564184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· LLM · Hybrid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SIGIL · A MARK OF POWER AND BINDING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Analogy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B4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OS concepts mapped to Sigil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"/>
            <a:ext cx="228600" cy="73152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20240"/>
            <a:ext cx="2265883" cy="411480"/>
          </a:xfrm>
          <a:prstGeom prst="roundRect">
            <a:avLst>
              <a:gd name="adj" fmla="val 1777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20240"/>
            <a:ext cx="208300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14523" y="192024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B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180283" y="1920240"/>
            <a:ext cx="2763317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71723" y="1920240"/>
            <a:ext cx="258043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Agents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514600"/>
            <a:ext cx="2265883" cy="411480"/>
          </a:xfrm>
          <a:prstGeom prst="roundRect">
            <a:avLst>
              <a:gd name="adj" fmla="val 1777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514600"/>
            <a:ext cx="208300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&amp; Drivers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14523" y="251460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B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180283" y="2514600"/>
            <a:ext cx="2763317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71723" y="2514600"/>
            <a:ext cx="258043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/ APIs / MCP Servers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108960"/>
            <a:ext cx="2265883" cy="411480"/>
          </a:xfrm>
          <a:prstGeom prst="roundRect">
            <a:avLst>
              <a:gd name="adj" fmla="val 1777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108960"/>
            <a:ext cx="208300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Switch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14523" y="310896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B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180283" y="3108960"/>
            <a:ext cx="2763317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71723" y="3108960"/>
            <a:ext cx="258043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Snapshot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703320"/>
            <a:ext cx="2265883" cy="411480"/>
          </a:xfrm>
          <a:prstGeom prst="roundRect">
            <a:avLst>
              <a:gd name="adj" fmla="val 1777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703320"/>
            <a:ext cx="208300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Calls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814523" y="370332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B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180283" y="3703320"/>
            <a:ext cx="2763317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71723" y="3703320"/>
            <a:ext cx="258043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Gateway (mTLS/JWT)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297680"/>
            <a:ext cx="2265883" cy="411480"/>
          </a:xfrm>
          <a:prstGeom prst="roundRect">
            <a:avLst>
              <a:gd name="adj" fmla="val 1777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297680"/>
            <a:ext cx="208300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Memory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814523" y="429768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B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3180283" y="4297680"/>
            <a:ext cx="2763317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71723" y="4297680"/>
            <a:ext cx="258043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Context Bus (ETag)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09360" y="1920240"/>
            <a:ext cx="2265883" cy="411480"/>
          </a:xfrm>
          <a:prstGeom prst="roundRect">
            <a:avLst>
              <a:gd name="adj" fmla="val 1777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1920240"/>
            <a:ext cx="208300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POST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575243" y="192024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B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8941003" y="1920240"/>
            <a:ext cx="2763317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32443" y="1920240"/>
            <a:ext cx="258043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Pre-flight Validation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309360" y="2514600"/>
            <a:ext cx="2265883" cy="411480"/>
          </a:xfrm>
          <a:prstGeom prst="roundRect">
            <a:avLst>
              <a:gd name="adj" fmla="val 1777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2514600"/>
            <a:ext cx="208300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Scheduler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575243" y="251460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B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8941003" y="2514600"/>
            <a:ext cx="2763317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032443" y="2514600"/>
            <a:ext cx="258043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309360" y="3108960"/>
            <a:ext cx="2265883" cy="411480"/>
          </a:xfrm>
          <a:prstGeom prst="roundRect">
            <a:avLst>
              <a:gd name="adj" fmla="val 1777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0" y="3108960"/>
            <a:ext cx="208300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Registry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575243" y="310896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B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8941003" y="3108960"/>
            <a:ext cx="2763317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032443" y="3108960"/>
            <a:ext cx="258043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Registry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309360" y="3703320"/>
            <a:ext cx="2265883" cy="411480"/>
          </a:xfrm>
          <a:prstGeom prst="roundRect">
            <a:avLst>
              <a:gd name="adj" fmla="val 1777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0" y="3703320"/>
            <a:ext cx="208300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Policies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575243" y="370332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B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8941003" y="3703320"/>
            <a:ext cx="2763317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032443" y="3703320"/>
            <a:ext cx="258043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Engine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309360" y="4297680"/>
            <a:ext cx="2265883" cy="411480"/>
          </a:xfrm>
          <a:prstGeom prst="roundRect">
            <a:avLst>
              <a:gd name="adj" fmla="val 1777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0" y="4297680"/>
            <a:ext cx="208300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/ htop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575243" y="429768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B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8941003" y="4297680"/>
            <a:ext cx="2763317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032443" y="4297680"/>
            <a:ext cx="258043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Dashboard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SIGIL · A MARK OF POWER AND BINDING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Overview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B4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· Kernel · Remote agent containers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"/>
            <a:ext cx="228600" cy="73152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20240"/>
            <a:ext cx="3291840" cy="4389120"/>
          </a:xfrm>
          <a:prstGeom prst="roundRect">
            <a:avLst>
              <a:gd name="adj" fmla="val 2222"/>
            </a:avLst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57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B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Angular Frontend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2423160"/>
            <a:ext cx="731520" cy="36576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060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Dashboard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30175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 Monitor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34290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Job Viewer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38404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Checkpoint Queue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42519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Intent Console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46634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 Explorer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069080" y="1920240"/>
            <a:ext cx="4206240" cy="4389120"/>
          </a:xfrm>
          <a:prstGeom prst="roundRect">
            <a:avLst>
              <a:gd name="adj" fmla="val 173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1960" y="2057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B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Sigil Kernel (.NET 9)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51960" y="2423160"/>
            <a:ext cx="731520" cy="36576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19" name="Text 17"/>
          <p:cNvSpPr/>
          <p:nvPr/>
        </p:nvSpPr>
        <p:spPr>
          <a:xfrm>
            <a:off x="4297680" y="2606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Registry (versions, weights)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97680" y="30175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Orchestrator + Snapshot Engine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297680" y="3429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Policy Engine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297680" y="38404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ISigilStore · IAuditStore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97680" y="4251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Security Layer (JWT/mTLS)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297680" y="4663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Secure Gateway (Polly)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503920" y="1920240"/>
            <a:ext cx="3200400" cy="4389120"/>
          </a:xfrm>
          <a:prstGeom prst="roundRect">
            <a:avLst>
              <a:gd name="adj" fmla="val 2286"/>
            </a:avLst>
          </a:prstGeom>
          <a:solidFill>
            <a:srgbClr val="0F1530"/>
          </a:solidFill>
          <a:ln w="12700">
            <a:solidFill>
              <a:srgbClr val="0F15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0" y="20574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B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Secure Agent Containers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686800" y="2423160"/>
            <a:ext cx="731520" cy="36576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28" name="Text 26"/>
          <p:cNvSpPr/>
          <p:nvPr/>
        </p:nvSpPr>
        <p:spPr>
          <a:xfrm>
            <a:off x="873252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Sigil Agent SDK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732520" y="3017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MS Agent Framework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732520" y="3429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Tools / APIs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732520" y="3840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mTLS + JWT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732520" y="4251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/sigil/validate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732520" y="4663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/sigil/execute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840480" y="3657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B4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 / REST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275320" y="32918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B4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→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75320" y="40233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B4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Delta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SIGIL · A MARK OF POWER AND BINDING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Protocol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B4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remote agent exposes these HTTP endpoints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"/>
            <a:ext cx="228600" cy="73152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20240"/>
            <a:ext cx="111556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20240"/>
            <a:ext cx="164592" cy="685800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92024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00200" y="19202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5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/sigil/validate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920240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Pre-flight — can the agent handle this task right now?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111556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743200"/>
            <a:ext cx="164592" cy="685800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74320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00200" y="274320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5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/sigil/execute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2743200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Task + Snapshot, return Delta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566160"/>
            <a:ext cx="111556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566160"/>
            <a:ext cx="164592" cy="685800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56616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600200" y="356616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5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/sigil/health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3566160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+ capability status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389120"/>
            <a:ext cx="111556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389120"/>
            <a:ext cx="164592" cy="685800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38912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600200" y="438912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5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/sigil/cancel/{taskId}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46320" y="4389120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a running task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5212080"/>
            <a:ext cx="111556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5212080"/>
            <a:ext cx="164592" cy="685800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521208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600200" y="521208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5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/sigil/info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846320" y="5212080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metadata (id, domain, capabilities, version)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SIGIL · A MARK OF POWER AND BINDING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Pre-flight Validation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B4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zombie tasks — agents accepting work they can't finish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"/>
            <a:ext cx="228600" cy="73152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20240"/>
            <a:ext cx="68580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09397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939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19202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17520" y="192024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policy (budget, access)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670048"/>
            <a:ext cx="68580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843784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8437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88720" y="267004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17520" y="2670048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/sigil/validate with task preview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419856"/>
            <a:ext cx="68580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593592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5935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88720" y="3419856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017520" y="3419856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ValidationResult (canHandle, tokens, missingTools)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169664"/>
            <a:ext cx="68580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4343400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3434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88720" y="4169664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017520" y="4169664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with Snapshot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919472"/>
            <a:ext cx="68580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5093208"/>
            <a:ext cx="292608" cy="29260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5093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4b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88720" y="491947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017520" y="4919472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next agent or fail job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772400" y="1920240"/>
            <a:ext cx="3931920" cy="4114800"/>
          </a:xfrm>
          <a:prstGeom prst="roundRect">
            <a:avLst>
              <a:gd name="adj" fmla="val 1860"/>
            </a:avLst>
          </a:prstGeom>
          <a:solidFill>
            <a:srgbClr val="0F1530"/>
          </a:solidFill>
          <a:ln w="12700">
            <a:solidFill>
              <a:srgbClr val="0F15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55280" y="2057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B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ValidationResult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7955280" y="2395728"/>
            <a:ext cx="640080" cy="36576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35" name="Text 33"/>
          <p:cNvSpPr/>
          <p:nvPr/>
        </p:nvSpPr>
        <p:spPr>
          <a:xfrm>
            <a:off x="7955280" y="2560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235440" y="2560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CanHandle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955280" y="30175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235440" y="3017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EstimatedTokens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955280" y="34747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string[]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235440" y="3474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MissingTools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955280" y="39319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string?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235440" y="3931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955280" y="48463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uses estimates to enforce token budget before dispatch.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SIGIL · A MARK OF POWER AND BINDING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Snapshot &amp; Delta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B4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the chatty-context problem — zero callbacks to the kernel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"/>
            <a:ext cx="228600" cy="73152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011680"/>
            <a:ext cx="237744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1945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B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Kernel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278892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GetSnapshot(jobId)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26080" y="27889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9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46120" y="2011680"/>
            <a:ext cx="2377440" cy="1828800"/>
          </a:xfrm>
          <a:prstGeom prst="roundRect">
            <a:avLst>
              <a:gd name="adj" fmla="val 4000"/>
            </a:avLst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1945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B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83280" y="278892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scrub PII · inject creds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23560" y="27889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9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943600" y="2011680"/>
            <a:ext cx="2377440" cy="1828800"/>
          </a:xfrm>
          <a:prstGeom prst="roundRect">
            <a:avLst>
              <a:gd name="adj" fmla="val 4000"/>
            </a:avLst>
          </a:prstGeom>
          <a:solidFill>
            <a:srgbClr val="0F1530"/>
          </a:solidFill>
          <a:ln w="12700">
            <a:solidFill>
              <a:srgbClr val="0F15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21945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B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080760" y="278892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/sigil/execute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locally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21040" y="27889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9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641080" y="2011680"/>
            <a:ext cx="237744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0" y="21945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B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Bus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778240" y="278892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CommitDelta(ETag)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29768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297680"/>
            <a:ext cx="109728" cy="1920240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3891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AgentExecutionPackage (to agent)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7240" y="47548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A2F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Task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A2F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ContextSnapshot (key/value)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A2F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ETag (concurrency token)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A2F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ScopedCredentials (per-tool)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63640" y="429768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63640" y="4297680"/>
            <a:ext cx="109728" cy="19202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0" y="43891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AgentExecutionResult (from agent)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92240" y="47548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TaskId, Success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2F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StateUpdates (delta)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2F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Logs (structured)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2F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UsageMetrics (tokens, duration)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SIGIL · A MARK OF POWER AND BINDING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Secure Agent Registry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B4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· weighted routing · lifecycle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"/>
            <a:ext cx="228600" cy="73152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2057400" cy="822960"/>
          </a:xfrm>
          <a:prstGeom prst="roundRect">
            <a:avLst>
              <a:gd name="adj" fmla="val 8889"/>
            </a:avLst>
          </a:prstGeom>
          <a:solidFill>
            <a:srgbClr val="6B7394"/>
          </a:solidFill>
          <a:ln w="12700">
            <a:solidFill>
              <a:srgbClr val="6B739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6596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70632" y="1965960"/>
            <a:ext cx="205740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70632" y="196596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992624" y="1965960"/>
            <a:ext cx="2057400" cy="822960"/>
          </a:xfrm>
          <a:prstGeom prst="roundRect">
            <a:avLst>
              <a:gd name="adj" fmla="val 8889"/>
            </a:avLst>
          </a:prstGeom>
          <a:solidFill>
            <a:srgbClr val="F9B87A"/>
          </a:solidFill>
          <a:ln w="12700">
            <a:solidFill>
              <a:srgbClr val="F9B8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92624" y="196596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Degraded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214616" y="1965960"/>
            <a:ext cx="2057400" cy="822960"/>
          </a:xfrm>
          <a:prstGeom prst="roundRect">
            <a:avLst>
              <a:gd name="adj" fmla="val 8889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14616" y="196596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Offline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436608" y="1965960"/>
            <a:ext cx="2057400" cy="822960"/>
          </a:xfrm>
          <a:prstGeom prst="roundRect">
            <a:avLst>
              <a:gd name="adj" fmla="val 8889"/>
            </a:avLst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36608" y="196596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Draining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29260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B4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missed heartbeats → Offline     ·     Heartbeat every 15s     ·     Stale cleanup on extended offline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93192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0233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Weighted Routing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1520" y="4343400"/>
            <a:ext cx="731520" cy="36576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480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agent · weight 90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4754880"/>
            <a:ext cx="45720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212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agent · weight 10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5486400"/>
            <a:ext cx="512064" cy="320040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58978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and canary deployments with no code changes.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63640" y="393192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40233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Tiers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446520" y="4343400"/>
            <a:ext cx="731520" cy="36576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29" name="Text 27"/>
          <p:cNvSpPr/>
          <p:nvPr/>
        </p:nvSpPr>
        <p:spPr>
          <a:xfrm>
            <a:off x="6446520" y="44805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818120" y="4480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F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Sigil-Key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104120" y="44805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B4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PII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46520" y="4937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818120" y="4937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F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Sigil-Key + JWT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104120" y="4937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B4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PII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46520" y="5394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818120" y="5394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F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mTLS + JWT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104120" y="5394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B4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PII-Cleared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SIGIL · A MARK OF POWER AND BINDING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Planner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B4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IPlanner strategy — decomposes intent into an execution plan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"/>
            <a:ext cx="228600" cy="73152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20240"/>
            <a:ext cx="3703320" cy="3017520"/>
          </a:xfrm>
          <a:prstGeom prst="roundRect">
            <a:avLst>
              <a:gd name="adj" fmla="val 242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488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B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Deterministic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77240" y="2697480"/>
            <a:ext cx="731520" cy="36576"/>
          </a:xfrm>
          <a:prstGeom prst="rect">
            <a:avLst/>
          </a:prstGeom>
          <a:solidFill>
            <a:srgbClr val="F5F7F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83464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match + weighted selection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361188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LLM dependency.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with Sigil Core.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34840" y="1920240"/>
            <a:ext cx="3703320" cy="3017520"/>
          </a:xfrm>
          <a:prstGeom prst="roundRect">
            <a:avLst>
              <a:gd name="adj" fmla="val 2424"/>
            </a:avLst>
          </a:prstGeom>
          <a:solidFill>
            <a:srgbClr val="F9B87A"/>
          </a:solidFill>
          <a:ln w="12700">
            <a:solidFill>
              <a:srgbClr val="F9B8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1488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663440" y="2697480"/>
            <a:ext cx="731520" cy="36576"/>
          </a:xfrm>
          <a:prstGeom prst="rect">
            <a:avLst/>
          </a:prstGeom>
          <a:solidFill>
            <a:srgbClr val="0F1530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283464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first, LLM fallback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63440" y="361188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default.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Escalates when ambiguous.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321040" y="1920240"/>
            <a:ext cx="3703320" cy="3017520"/>
          </a:xfrm>
          <a:prstGeom prst="roundRect">
            <a:avLst>
              <a:gd name="adj" fmla="val 2424"/>
            </a:avLst>
          </a:prstGeom>
          <a:solidFill>
            <a:srgbClr val="0F1530"/>
          </a:solidFill>
          <a:ln w="12700">
            <a:solidFill>
              <a:srgbClr val="0F15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49640" y="21488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B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LLM-Only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549640" y="2697480"/>
            <a:ext cx="731520" cy="36576"/>
          </a:xfrm>
          <a:prstGeom prst="rect">
            <a:avLst/>
          </a:prstGeom>
          <a:solidFill>
            <a:srgbClr val="F5F7FF"/>
          </a:solidFill>
          <a:ln/>
        </p:spPr>
      </p:sp>
      <p:sp>
        <p:nvSpPr>
          <p:cNvPr id="20" name="Text 18"/>
          <p:cNvSpPr/>
          <p:nvPr/>
        </p:nvSpPr>
        <p:spPr>
          <a:xfrm>
            <a:off x="8549640" y="283464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IChatClient decomposition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49640" y="361188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built from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registry.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166360"/>
            <a:ext cx="11155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52303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IChatClient · provider-agnostic (Microsoft.Extensions.AI)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" y="5669280"/>
            <a:ext cx="91440" cy="365760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5669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(Claude)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474720" y="5669280"/>
            <a:ext cx="91440" cy="365760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0" y="5669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17920" y="5669280"/>
            <a:ext cx="91440" cy="365760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0" y="5669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961120" y="5669280"/>
            <a:ext cx="91440" cy="365760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0" y="5669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(local)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SIGIL · A MARK OF POWER AND BINDING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Orchestrator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B4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· validate · snapshot · dispatch · commit · audit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"/>
            <a:ext cx="228600" cy="73152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01168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011680"/>
            <a:ext cx="2606040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2402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9B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Submit Intent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31089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or API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64992" y="201168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64992" y="2011680"/>
            <a:ext cx="2606040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3547872" y="22402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9B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47872" y="265176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47872" y="31089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IPlanner → ExecutionPlan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81344" y="201168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81344" y="2011680"/>
            <a:ext cx="2606040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364224" y="22402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9B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64224" y="265176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Pre-flight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64224" y="31089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evaluation + scoped creds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997696" y="201168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97696" y="2011680"/>
            <a:ext cx="2606040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9180576" y="22402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9B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80576" y="265176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180576" y="31089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/sigil/validate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11480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114800"/>
            <a:ext cx="2606040" cy="109728"/>
          </a:xfrm>
          <a:prstGeom prst="rect">
            <a:avLst/>
          </a:prstGeom>
          <a:solidFill>
            <a:srgbClr val="3B4BA3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43434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9B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31520" y="47548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Snapshot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31520" y="52120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GetSnapshotAsync + ETag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364992" y="411480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64992" y="4114800"/>
            <a:ext cx="2606040" cy="109728"/>
          </a:xfrm>
          <a:prstGeom prst="rect">
            <a:avLst/>
          </a:prstGeom>
          <a:solidFill>
            <a:srgbClr val="3B4BA3"/>
          </a:solidFill>
          <a:ln/>
        </p:spPr>
      </p:sp>
      <p:sp>
        <p:nvSpPr>
          <p:cNvPr id="34" name="Text 32"/>
          <p:cNvSpPr/>
          <p:nvPr/>
        </p:nvSpPr>
        <p:spPr>
          <a:xfrm>
            <a:off x="3547872" y="43434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9B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3547872" y="47548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Dispatch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3547872" y="52120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/sigil/execute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81344" y="411480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81344" y="4114800"/>
            <a:ext cx="2606040" cy="109728"/>
          </a:xfrm>
          <a:prstGeom prst="rect">
            <a:avLst/>
          </a:prstGeom>
          <a:solidFill>
            <a:srgbClr val="3B4BA3"/>
          </a:solidFill>
          <a:ln/>
        </p:spPr>
      </p:sp>
      <p:sp>
        <p:nvSpPr>
          <p:cNvPr id="39" name="Text 37"/>
          <p:cNvSpPr/>
          <p:nvPr/>
        </p:nvSpPr>
        <p:spPr>
          <a:xfrm>
            <a:off x="6364224" y="43434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9B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364224" y="47548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Commit Delta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364224" y="52120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CommitDeltaAsync(ETag)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997696" y="411480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997696" y="4114800"/>
            <a:ext cx="2606040" cy="109728"/>
          </a:xfrm>
          <a:prstGeom prst="rect">
            <a:avLst/>
          </a:prstGeom>
          <a:solidFill>
            <a:srgbClr val="3B4BA3"/>
          </a:solidFill>
          <a:ln/>
        </p:spPr>
      </p:sp>
      <p:sp>
        <p:nvSpPr>
          <p:cNvPr id="44" name="Text 42"/>
          <p:cNvSpPr/>
          <p:nvPr/>
        </p:nvSpPr>
        <p:spPr>
          <a:xfrm>
            <a:off x="9180576" y="43434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9B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9180576" y="47548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9180576" y="52120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LogChangeAsync (immutable)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SIGIL · A MARK OF POWER AND BINDING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Atomic Context Bus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B4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 concurrency via ETags — no distributed locks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"/>
            <a:ext cx="228600" cy="73152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20240"/>
            <a:ext cx="557784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20240"/>
            <a:ext cx="109728" cy="4389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116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IContextStore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468880"/>
            <a:ext cx="53035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A2F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GetSnapshotAsync(jobId)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A2F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(Snapshot, ETag)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A2F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CommitDeltaAsync(jobId, delta, expectedETag)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A2F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bool (true if ETag matched)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A2F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AppendLogAsync(jobId, entry)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A2F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GetLogAsync(jobId)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A2F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IReadOnlyList&lt;AgentLogEntry&gt;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920240"/>
            <a:ext cx="5440680" cy="4389120"/>
          </a:xfrm>
          <a:prstGeom prst="roundRect">
            <a:avLst>
              <a:gd name="adj" fmla="val 1667"/>
            </a:avLst>
          </a:prstGeom>
          <a:solidFill>
            <a:srgbClr val="0F1530"/>
          </a:solidFill>
          <a:ln w="12700">
            <a:solidFill>
              <a:srgbClr val="0F15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011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B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Concurrent writers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46520" y="2377440"/>
            <a:ext cx="731520" cy="36576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14" name="Shape 12"/>
          <p:cNvSpPr/>
          <p:nvPr/>
        </p:nvSpPr>
        <p:spPr>
          <a:xfrm>
            <a:off x="6446520" y="2697480"/>
            <a:ext cx="91440" cy="3657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2606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03920" y="26060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count: 1 }  ETag: abc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46520" y="3246120"/>
            <a:ext cx="91440" cy="3657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3154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 reads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03920" y="3154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ETag: abc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46520" y="3794760"/>
            <a:ext cx="91440" cy="3657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3703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 reads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03920" y="3703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ETag: abc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46520" y="4343400"/>
            <a:ext cx="91440" cy="365760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24" name="Text 22"/>
          <p:cNvSpPr/>
          <p:nvPr/>
        </p:nvSpPr>
        <p:spPr>
          <a:xfrm>
            <a:off x="6629400" y="4251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commits → 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03920" y="4251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ETag: def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46520" y="4892040"/>
            <a:ext cx="91440" cy="3657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7" name="Text 25"/>
          <p:cNvSpPr/>
          <p:nvPr/>
        </p:nvSpPr>
        <p:spPr>
          <a:xfrm>
            <a:off x="6629400" y="4800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commits → ✗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03920" y="4800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conflict (expected abc)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46520" y="5440680"/>
            <a:ext cx="91440" cy="3657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0" name="Text 28"/>
          <p:cNvSpPr/>
          <p:nvPr/>
        </p:nvSpPr>
        <p:spPr>
          <a:xfrm>
            <a:off x="6629400" y="5349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03920" y="5349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retries B with fresh snapshot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SIGIL · A MARK OF POWER AND BINDING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 Engine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B4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pre-flight — before the agent ever receives work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"/>
            <a:ext cx="228600" cy="73152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874520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74520"/>
            <a:ext cx="109728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87452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Budget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566160" y="2020824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202082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Pre-flight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874520"/>
            <a:ext cx="6675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cost vs remaining budget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514600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514600"/>
            <a:ext cx="109728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51460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Access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566160" y="2660904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3566160" y="266090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Pre-flight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46320" y="2514600"/>
            <a:ext cx="6675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credentials per step only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154680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154680"/>
            <a:ext cx="109728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15468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Masking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566160" y="3300984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3566160" y="330098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Pre-flight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3154680"/>
            <a:ext cx="6675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Scrub snapshot if !IsPiiCleared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3794760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3794760"/>
            <a:ext cx="109728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379476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566160" y="3941064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3566160" y="394106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Pre-flight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46320" y="3794760"/>
            <a:ext cx="6675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for writes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4434840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4434840"/>
            <a:ext cx="109728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443484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566160" y="4581144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3566160" y="458114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Pre-flight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434840"/>
            <a:ext cx="6675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jobs · requests/min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5074920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" y="5074920"/>
            <a:ext cx="109728" cy="566928"/>
          </a:xfrm>
          <a:prstGeom prst="rect">
            <a:avLst/>
          </a:prstGeom>
          <a:solidFill>
            <a:srgbClr val="3B4BA3"/>
          </a:solidFill>
          <a:ln/>
        </p:spPr>
      </p:sp>
      <p:sp>
        <p:nvSpPr>
          <p:cNvPr id="39" name="Text 37"/>
          <p:cNvSpPr/>
          <p:nvPr/>
        </p:nvSpPr>
        <p:spPr>
          <a:xfrm>
            <a:off x="777240" y="507492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566160" y="5221224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3B4BA3"/>
          </a:solidFill>
          <a:ln/>
        </p:spPr>
      </p:sp>
      <p:sp>
        <p:nvSpPr>
          <p:cNvPr id="41" name="Text 39"/>
          <p:cNvSpPr/>
          <p:nvPr/>
        </p:nvSpPr>
        <p:spPr>
          <a:xfrm>
            <a:off x="3566160" y="522122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46320" y="5074920"/>
            <a:ext cx="6675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Polly — per step, per job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48640" y="5715000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48640" y="5715000"/>
            <a:ext cx="109728" cy="566928"/>
          </a:xfrm>
          <a:prstGeom prst="rect">
            <a:avLst/>
          </a:prstGeom>
          <a:solidFill>
            <a:srgbClr val="3B4BA3"/>
          </a:solidFill>
          <a:ln/>
        </p:spPr>
      </p:sp>
      <p:sp>
        <p:nvSpPr>
          <p:cNvPr id="45" name="Text 43"/>
          <p:cNvSpPr/>
          <p:nvPr/>
        </p:nvSpPr>
        <p:spPr>
          <a:xfrm>
            <a:off x="777240" y="571500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3566160" y="5861304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3B4BA3"/>
          </a:solidFill>
          <a:ln/>
        </p:spPr>
      </p:sp>
      <p:sp>
        <p:nvSpPr>
          <p:cNvPr id="47" name="Text 45"/>
          <p:cNvSpPr/>
          <p:nvPr/>
        </p:nvSpPr>
        <p:spPr>
          <a:xfrm>
            <a:off x="3566160" y="586130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846320" y="5715000"/>
            <a:ext cx="6675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Polly circuit breaker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SIGIL · A MARK OF POWER AND BINDING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Checkpoints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B4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 for writes — human-in-the-loop for all mutations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"/>
            <a:ext cx="228600" cy="73152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20240"/>
            <a:ext cx="7772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0391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0391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1920240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returns delta requesting a write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578608"/>
            <a:ext cx="7772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6974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6974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88720" y="2578608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Engine evaluates checkpoint policy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236976"/>
            <a:ext cx="7772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355848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3558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88720" y="3236976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status → Paused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895344"/>
            <a:ext cx="7772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4014216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0142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88720" y="3895344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 pushes approval card to UI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553712"/>
            <a:ext cx="7772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467258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46725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88720" y="4553712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approves or rejects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5212080"/>
            <a:ext cx="7772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533095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53309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88720" y="5212080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and commit — or abort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595360" y="1920240"/>
            <a:ext cx="3108960" cy="4206240"/>
          </a:xfrm>
          <a:prstGeom prst="roundRect">
            <a:avLst>
              <a:gd name="adj" fmla="val 2353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32520" y="214884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F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Writes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5F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Pause.</a:t>
            </a:r>
            <a:endParaRPr lang="en-US" sz="4400" dirty="0"/>
          </a:p>
        </p:txBody>
      </p:sp>
      <p:sp>
        <p:nvSpPr>
          <p:cNvPr id="33" name="Shape 31"/>
          <p:cNvSpPr/>
          <p:nvPr/>
        </p:nvSpPr>
        <p:spPr>
          <a:xfrm>
            <a:off x="8732520" y="3840480"/>
            <a:ext cx="914400" cy="54864"/>
          </a:xfrm>
          <a:prstGeom prst="rect">
            <a:avLst/>
          </a:prstGeom>
          <a:solidFill>
            <a:srgbClr val="F5F7FF"/>
          </a:solidFill>
          <a:ln/>
        </p:spPr>
      </p:sp>
      <p:sp>
        <p:nvSpPr>
          <p:cNvPr id="34" name="Text 32"/>
          <p:cNvSpPr/>
          <p:nvPr/>
        </p:nvSpPr>
        <p:spPr>
          <a:xfrm>
            <a:off x="8732520" y="402336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write-side capability runs through the checkpoint policy. The job waits on a SignalR-delivered approval before committing.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SIGIL · A MARK OF POWER AND BINDING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Model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B4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 — all traffic authenticated and signed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"/>
            <a:ext cx="228600" cy="73152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20240"/>
            <a:ext cx="3703320" cy="146304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116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B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Register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7240" y="2450592"/>
            <a:ext cx="731520" cy="36576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56032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Sigil-Key or mTLS cert → short-lived Agent-JWT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34840" y="1920240"/>
            <a:ext cx="3703320" cy="146304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0116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B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663440" y="2450592"/>
            <a:ext cx="731520" cy="36576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256032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signs dispatch · Agent verifies · Delta signed with JWT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321040" y="1920240"/>
            <a:ext cx="3703320" cy="146304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0116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B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Refresh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49640" y="2450592"/>
            <a:ext cx="731520" cy="36576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18" name="Text 16"/>
          <p:cNvSpPr/>
          <p:nvPr/>
        </p:nvSpPr>
        <p:spPr>
          <a:xfrm>
            <a:off x="8549640" y="256032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rotates JWT before expiry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1115568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840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Tiered access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31520" y="4206240"/>
            <a:ext cx="731520" cy="36576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389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03120" y="4389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80560" y="43891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35040" y="4389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1520" y="4736592"/>
            <a:ext cx="10972800" cy="18288"/>
          </a:xfrm>
          <a:prstGeom prst="rect">
            <a:avLst/>
          </a:prstGeom>
          <a:solidFill>
            <a:srgbClr val="D8DEF2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846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103120" y="4846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Sigil-Key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80560" y="48463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035040" y="4846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/ local agents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1520" y="5303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103120" y="5303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Sigil-Key + JWT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480560" y="5303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035040" y="5303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agents without sensitive data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31520" y="5760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103120" y="5760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 + JWT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480560" y="57607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(PII-Cleared)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035040" y="5760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handling personal data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SIGIL · A MARK OF POWER AND BINDING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Storage Abstraction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B4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ISigilStore · two providers · zero kernel dependency on a database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"/>
            <a:ext cx="228600" cy="73152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0" y="2377440"/>
            <a:ext cx="2103120" cy="210312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25603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B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ISigilStore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715000" y="3063240"/>
            <a:ext cx="731520" cy="36576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0" y="315468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Contexts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41148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377440"/>
            <a:ext cx="109728" cy="2103120"/>
          </a:xfrm>
          <a:prstGeom prst="rect">
            <a:avLst/>
          </a:prstGeom>
          <a:solidFill>
            <a:srgbClr val="3B4BA3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514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Sigil.Storage.Mongo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29718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F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MongoSigilStore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A2F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MongoAuditStore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A2F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.UseMongo(connectionString, database)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98080" y="2377440"/>
            <a:ext cx="4206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0" y="2377440"/>
            <a:ext cx="109728" cy="2103120"/>
          </a:xfrm>
          <a:prstGeom prst="rect">
            <a:avLst/>
          </a:prstGeom>
          <a:solidFill>
            <a:srgbClr val="3B4BA3"/>
          </a:solidFill>
          <a:ln/>
        </p:spPr>
      </p:sp>
      <p:sp>
        <p:nvSpPr>
          <p:cNvPr id="17" name="Text 15"/>
          <p:cNvSpPr/>
          <p:nvPr/>
        </p:nvSpPr>
        <p:spPr>
          <a:xfrm>
            <a:off x="7726680" y="2514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Sigil.Storage.EfCore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26680" y="297180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F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EfSigilStore · EfAuditStore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A2F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SigilDbContext · Migrations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A2F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.UseEfCore(options =&gt; ...)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383280"/>
            <a:ext cx="365760" cy="54864"/>
          </a:xfrm>
          <a:prstGeom prst="rect">
            <a:avLst/>
          </a:prstGeom>
          <a:solidFill>
            <a:srgbClr val="D8DEF2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0" y="3383280"/>
            <a:ext cx="365760" cy="54864"/>
          </a:xfrm>
          <a:prstGeom prst="rect">
            <a:avLst/>
          </a:prstGeom>
          <a:solidFill>
            <a:srgbClr val="D8DEF2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754880"/>
            <a:ext cx="11155680" cy="1554480"/>
          </a:xfrm>
          <a:prstGeom prst="roundRect">
            <a:avLst>
              <a:gd name="adj" fmla="val 4706"/>
            </a:avLst>
          </a:prstGeom>
          <a:solidFill>
            <a:srgbClr val="0F1530"/>
          </a:solidFill>
          <a:ln w="12700">
            <a:solidFill>
              <a:srgbClr val="0F15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892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B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IAuditStore — immutable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77240" y="5257800"/>
            <a:ext cx="731520" cy="36576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394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context change writes an AuditEntry: JobId · AgentId · StepId · Delta · Metrics · Timestamp. Never mutated. Never deleted.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SIGIL · A MARK OF POWER AND BINDING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Observability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B4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· structured logs in deltas · cost tracking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"/>
            <a:ext cx="228600" cy="73152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20240"/>
            <a:ext cx="3703320" cy="210312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488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B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Traces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77240" y="2697480"/>
            <a:ext cx="731520" cy="36576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83464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→ Planner → Step → Tool span hierarchy via System.Diagnostics.Activity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34840" y="1920240"/>
            <a:ext cx="3703320" cy="2103120"/>
          </a:xfrm>
          <a:prstGeom prst="roundRect">
            <a:avLst>
              <a:gd name="adj" fmla="val 3478"/>
            </a:avLst>
          </a:prstGeom>
          <a:solidFill>
            <a:srgbClr val="3B4BA3"/>
          </a:solidFill>
          <a:ln w="12700">
            <a:solidFill>
              <a:srgbClr val="3B4B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1488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B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Logs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663440" y="2697480"/>
            <a:ext cx="731520" cy="36576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283464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returned in the Delta package by each agent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321040" y="1920240"/>
            <a:ext cx="3703320" cy="2103120"/>
          </a:xfrm>
          <a:prstGeom prst="roundRect">
            <a:avLst>
              <a:gd name="adj" fmla="val 3478"/>
            </a:avLst>
          </a:prstGeom>
          <a:solidFill>
            <a:srgbClr val="0F1530"/>
          </a:solidFill>
          <a:ln w="12700">
            <a:solidFill>
              <a:srgbClr val="0F15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1488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B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Metrics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549640" y="2697480"/>
            <a:ext cx="731520" cy="36576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18" name="Text 16"/>
          <p:cNvSpPr/>
          <p:nvPr/>
        </p:nvSpPr>
        <p:spPr>
          <a:xfrm>
            <a:off x="8549640" y="283464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Cost-per-intent, token usage, latency, success rate → Prometheus / Grafana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251960"/>
            <a:ext cx="111556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343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Trace hierarchy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" y="4663440"/>
            <a:ext cx="731520" cy="36576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4800600"/>
            <a:ext cx="10789920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8006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(root)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005840" y="5166360"/>
            <a:ext cx="1828800" cy="274320"/>
          </a:xfrm>
          <a:prstGeom prst="rect">
            <a:avLst/>
          </a:prstGeom>
          <a:solidFill>
            <a:srgbClr val="3B4BA3"/>
          </a:solidFill>
          <a:ln/>
        </p:spPr>
      </p:sp>
      <p:sp>
        <p:nvSpPr>
          <p:cNvPr id="25" name="Text 23"/>
          <p:cNvSpPr/>
          <p:nvPr/>
        </p:nvSpPr>
        <p:spPr>
          <a:xfrm>
            <a:off x="1051560" y="51663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Planner.Plan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926080" y="5166360"/>
            <a:ext cx="1097280" cy="274320"/>
          </a:xfrm>
          <a:prstGeom prst="rect">
            <a:avLst/>
          </a:prstGeom>
          <a:solidFill>
            <a:srgbClr val="3B4BA3"/>
          </a:solidFill>
          <a:ln/>
        </p:spPr>
      </p:sp>
      <p:sp>
        <p:nvSpPr>
          <p:cNvPr id="27" name="Text 25"/>
          <p:cNvSpPr/>
          <p:nvPr/>
        </p:nvSpPr>
        <p:spPr>
          <a:xfrm>
            <a:off x="2971800" y="5166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Policy.PreFlight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114800" y="5166360"/>
            <a:ext cx="1097280" cy="274320"/>
          </a:xfrm>
          <a:prstGeom prst="rect">
            <a:avLst/>
          </a:prstGeom>
          <a:solidFill>
            <a:srgbClr val="3B4BA3"/>
          </a:solidFill>
          <a:ln/>
        </p:spPr>
      </p:sp>
      <p:sp>
        <p:nvSpPr>
          <p:cNvPr id="29" name="Text 27"/>
          <p:cNvSpPr/>
          <p:nvPr/>
        </p:nvSpPr>
        <p:spPr>
          <a:xfrm>
            <a:off x="4160520" y="5166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Agent.Validate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303520" y="5166360"/>
            <a:ext cx="1280160" cy="274320"/>
          </a:xfrm>
          <a:prstGeom prst="rect">
            <a:avLst/>
          </a:prstGeom>
          <a:solidFill>
            <a:srgbClr val="3B4BA3"/>
          </a:solidFill>
          <a:ln/>
        </p:spPr>
      </p:sp>
      <p:sp>
        <p:nvSpPr>
          <p:cNvPr id="31" name="Text 29"/>
          <p:cNvSpPr/>
          <p:nvPr/>
        </p:nvSpPr>
        <p:spPr>
          <a:xfrm>
            <a:off x="5349240" y="51663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Context.Snapshot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675120" y="5166360"/>
            <a:ext cx="3291840" cy="274320"/>
          </a:xfrm>
          <a:prstGeom prst="rect">
            <a:avLst/>
          </a:prstGeom>
          <a:solidFill>
            <a:srgbClr val="3B4BA3"/>
          </a:solidFill>
          <a:ln/>
        </p:spPr>
      </p:sp>
      <p:sp>
        <p:nvSpPr>
          <p:cNvPr id="33" name="Text 31"/>
          <p:cNvSpPr/>
          <p:nvPr/>
        </p:nvSpPr>
        <p:spPr>
          <a:xfrm>
            <a:off x="6720840" y="5166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Agent.Execute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0058400" y="5166360"/>
            <a:ext cx="1417320" cy="274320"/>
          </a:xfrm>
          <a:prstGeom prst="rect">
            <a:avLst/>
          </a:prstGeom>
          <a:solidFill>
            <a:srgbClr val="3B4BA3"/>
          </a:solidFill>
          <a:ln/>
        </p:spPr>
      </p:sp>
      <p:sp>
        <p:nvSpPr>
          <p:cNvPr id="35" name="Text 33"/>
          <p:cNvSpPr/>
          <p:nvPr/>
        </p:nvSpPr>
        <p:spPr>
          <a:xfrm>
            <a:off x="10104120" y="516636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Commit+Audit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858000" y="5623560"/>
            <a:ext cx="1371600" cy="274320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37" name="Text 35"/>
          <p:cNvSpPr/>
          <p:nvPr/>
        </p:nvSpPr>
        <p:spPr>
          <a:xfrm>
            <a:off x="6903720" y="56235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Tool.Create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412480" y="5623560"/>
            <a:ext cx="1371600" cy="274320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39" name="Text 37"/>
          <p:cNvSpPr/>
          <p:nvPr/>
        </p:nvSpPr>
        <p:spPr>
          <a:xfrm>
            <a:off x="8458200" y="56235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Tool.Send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SIGIL · A MARK OF POWER AND BINDING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SDK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B4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authors write domain logic — the SDK handles everything else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"/>
            <a:ext cx="228600" cy="73152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20240"/>
            <a:ext cx="5394960" cy="4389120"/>
          </a:xfrm>
          <a:prstGeom prst="roundRect">
            <a:avLst>
              <a:gd name="adj" fmla="val 1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57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B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Handled by the SDK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2423160"/>
            <a:ext cx="731520" cy="36576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770632"/>
            <a:ext cx="109728" cy="109728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6060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Self-registration (Sigil-Key or mTLS)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3246120"/>
            <a:ext cx="109728" cy="109728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08152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 + deregistration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3721608"/>
            <a:ext cx="109728" cy="109728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55701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Short-lived JWT — auto refresh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77240" y="4197096"/>
            <a:ext cx="109728" cy="109728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03250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/sigil/validate endpoint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77240" y="4672584"/>
            <a:ext cx="109728" cy="109728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50799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/sigil/execute endpoint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77240" y="5148072"/>
            <a:ext cx="109728" cy="109728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9834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/ Delta plumbing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77240" y="5623560"/>
            <a:ext cx="109728" cy="109728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545896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signing + verification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26480" y="1920240"/>
            <a:ext cx="5577840" cy="4389120"/>
          </a:xfrm>
          <a:prstGeom prst="roundRect">
            <a:avLst>
              <a:gd name="adj" fmla="val 1667"/>
            </a:avLst>
          </a:prstGeom>
          <a:solidFill>
            <a:srgbClr val="0F1530"/>
          </a:solidFill>
          <a:ln w="12700">
            <a:solidFill>
              <a:srgbClr val="0F15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2057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B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agent author writes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55080" y="2423160"/>
            <a:ext cx="731520" cy="36576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2560320"/>
            <a:ext cx="52120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ResearchHandler : ISigilAgentHandler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async Task&lt;AgentExecutionResult&gt; ExecuteAsync(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AgentExecutionPackage package, CancellationToken ct)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topic = package.ContextSnapshot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.Get&lt;string&gt;("topic");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summary = await _researcher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.ResearchAsync(topic, ct);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new AgentExecutionResult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Success = true,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StateUpdates = { ["summary"] = summary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SIGIL · A MARK OF POWER AND BINDING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Angular Frontend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B4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operational dashboard — desktop environment of the Agent 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"/>
            <a:ext cx="228600" cy="73152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2024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20240"/>
            <a:ext cx="109728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9202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51760" y="19202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jobs · agent health grid · cost overview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92024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920240"/>
            <a:ext cx="109728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9202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Catalog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21040" y="19202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· security tier · routing weight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88036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880360"/>
            <a:ext cx="109728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28803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 Monitor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51760" y="28803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waterfall · snapshot/delta inspector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288036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2880360"/>
            <a:ext cx="109728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28803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 History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21040" y="28803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replay past jobs with full audit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84048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840480"/>
            <a:ext cx="109728" cy="8229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38404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Checkpoint Queue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651760" y="38404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human approvals for writes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384048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3840480"/>
            <a:ext cx="109728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38404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Intent Console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321040" y="38404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intents · watch execution live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480060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4800600"/>
            <a:ext cx="109728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48006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Explorer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651760" y="48006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change history — who, what, when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58521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B4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· standalone components · signals · SpartanNG · Tailwind · SignalR live updates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SIGIL · A MARK OF POWER AND BINDING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Structure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B4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libraries under src/ · agents and UI alongside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"/>
            <a:ext cx="228600" cy="73152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20240"/>
            <a:ext cx="1115568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20240"/>
            <a:ext cx="109728" cy="4754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92024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Sigil.Core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23360" y="1920240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Zero-dependency contracts: protocol, stores, policy, planner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450592"/>
            <a:ext cx="1115568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450592"/>
            <a:ext cx="109728" cy="475488"/>
          </a:xfrm>
          <a:prstGeom prst="rect">
            <a:avLst/>
          </a:prstGeom>
          <a:solidFill>
            <a:srgbClr val="3B4BA3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450592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Sigil.Agent.SDK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023360" y="2450592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NuGet for agent authors — register, heartbeat, validate, snapshot/delta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980944"/>
            <a:ext cx="1115568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980944"/>
            <a:ext cx="109728" cy="475488"/>
          </a:xfrm>
          <a:prstGeom prst="rect">
            <a:avLst/>
          </a:prstGeom>
          <a:solidFill>
            <a:srgbClr val="3B4BA3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2980944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Sigil.Storage.Mongo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023360" y="2980944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MongoSigilStore + MongoAuditStore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511296"/>
            <a:ext cx="1115568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511296"/>
            <a:ext cx="109728" cy="475488"/>
          </a:xfrm>
          <a:prstGeom prst="rect">
            <a:avLst/>
          </a:prstGeom>
          <a:solidFill>
            <a:srgbClr val="3B4BA3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511296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Sigil.Storage.EfCore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023360" y="3511296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EfSigilStore + migrations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041648"/>
            <a:ext cx="1115568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041648"/>
            <a:ext cx="109728" cy="475488"/>
          </a:xfrm>
          <a:prstGeom prst="rect">
            <a:avLst/>
          </a:prstGeom>
          <a:solidFill>
            <a:srgbClr val="3B4BA3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041648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Sigil.Infrastructure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023360" y="4041648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Gateway, JWT/mTLS, observability primitives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572000"/>
            <a:ext cx="1115568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572000"/>
            <a:ext cx="109728" cy="475488"/>
          </a:xfrm>
          <a:prstGeom prst="rect">
            <a:avLst/>
          </a:prstGeom>
          <a:solidFill>
            <a:srgbClr val="3B4BA3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457200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Sigil.Runtime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023360" y="4572000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Registry, Orchestrator, SnapshotEngine, Planners, Policies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5102352"/>
            <a:ext cx="1115568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5102352"/>
            <a:ext cx="109728" cy="4754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5102352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Sigil.Api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023360" y="5102352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FastEndpoints + SignalR hubs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5632704"/>
            <a:ext cx="1115568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" y="5632704"/>
            <a:ext cx="109728" cy="475488"/>
          </a:xfrm>
          <a:prstGeom prst="rect">
            <a:avLst/>
          </a:prstGeom>
          <a:solidFill>
            <a:srgbClr val="6B7394"/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" y="5632704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agents/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023360" y="5632704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agents (Echo, Weather, …) using the SDK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48640" y="6163056"/>
            <a:ext cx="1115568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8640" y="6163056"/>
            <a:ext cx="109728" cy="475488"/>
          </a:xfrm>
          <a:prstGeom prst="rect">
            <a:avLst/>
          </a:prstGeom>
          <a:solidFill>
            <a:srgbClr val="6B7394"/>
          </a:solidFill>
          <a:ln/>
        </p:spPr>
      </p:sp>
      <p:sp>
        <p:nvSpPr>
          <p:cNvPr id="41" name="Text 39"/>
          <p:cNvSpPr/>
          <p:nvPr/>
        </p:nvSpPr>
        <p:spPr>
          <a:xfrm>
            <a:off x="822960" y="6163056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sigil-ui/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023360" y="6163056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dashboard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SIGIL · A MARK OF POWER AND BINDING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Design Decisions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B4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architecture made a specific, load-bearing choice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"/>
            <a:ext cx="228600" cy="73152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20240"/>
            <a:ext cx="5532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20240"/>
            <a:ext cx="109728" cy="502920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9202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hosting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88920" y="19202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Out-of-process remote containers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1920240"/>
            <a:ext cx="5532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920240"/>
            <a:ext cx="109728" cy="502920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9202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model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12480" y="19202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&amp; Delta (push-execute-diff)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560320"/>
            <a:ext cx="5532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560320"/>
            <a:ext cx="109728" cy="502920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25603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88920" y="256032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 via ETag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2560320"/>
            <a:ext cx="5532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2560320"/>
            <a:ext cx="109728" cy="502920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25603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12480" y="256032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Zero-trust: mTLS + JWT + Sigil-Key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3200400"/>
            <a:ext cx="5532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200400"/>
            <a:ext cx="109728" cy="502920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32004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Pre-flight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788920" y="320040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/sigil/validate before dispatch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72200" y="3200400"/>
            <a:ext cx="5532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72200" y="3200400"/>
            <a:ext cx="109728" cy="502920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29" name="Text 27"/>
          <p:cNvSpPr/>
          <p:nvPr/>
        </p:nvSpPr>
        <p:spPr>
          <a:xfrm>
            <a:off x="6446520" y="32004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412480" y="320040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for canary / A-B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3840480"/>
            <a:ext cx="5532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3840480"/>
            <a:ext cx="109728" cy="502920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38404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788920" y="384048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IAuditStore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172200" y="3840480"/>
            <a:ext cx="5532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72200" y="3840480"/>
            <a:ext cx="109728" cy="502920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37" name="Text 35"/>
          <p:cNvSpPr/>
          <p:nvPr/>
        </p:nvSpPr>
        <p:spPr>
          <a:xfrm>
            <a:off x="6446520" y="38404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412480" y="384048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Abstracted · Mongo + EF Core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48640" y="4480560"/>
            <a:ext cx="5532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8640" y="4480560"/>
            <a:ext cx="109728" cy="502920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41" name="Text 39"/>
          <p:cNvSpPr/>
          <p:nvPr/>
        </p:nvSpPr>
        <p:spPr>
          <a:xfrm>
            <a:off x="822960" y="44805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788920" y="44805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IPlanner strategy in Core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172200" y="4480560"/>
            <a:ext cx="5532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72200" y="4480560"/>
            <a:ext cx="109728" cy="502920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45" name="Text 43"/>
          <p:cNvSpPr/>
          <p:nvPr/>
        </p:nvSpPr>
        <p:spPr>
          <a:xfrm>
            <a:off x="6446520" y="44805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412480" y="44805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IChatClient (MS.Extensions.AI)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48640" y="5120640"/>
            <a:ext cx="5532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48640" y="5120640"/>
            <a:ext cx="109728" cy="502920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49" name="Text 47"/>
          <p:cNvSpPr/>
          <p:nvPr/>
        </p:nvSpPr>
        <p:spPr>
          <a:xfrm>
            <a:off x="822960" y="5120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2788920" y="51206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 for writes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172200" y="5120640"/>
            <a:ext cx="5532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172200" y="5120640"/>
            <a:ext cx="109728" cy="502920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53" name="Text 51"/>
          <p:cNvSpPr/>
          <p:nvPr/>
        </p:nvSpPr>
        <p:spPr>
          <a:xfrm>
            <a:off x="6446520" y="5120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412480" y="51206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+ structured delta logs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SIGIL · A MARK OF POWER AND BINDING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Plan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B4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→ Orchestration → Policy → Observability → UI → Polish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"/>
            <a:ext cx="228600" cy="73152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20240"/>
            <a:ext cx="11155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20240"/>
            <a:ext cx="109728" cy="640080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92024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011680" y="19202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+ Security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92024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scaffold · stores · protocol · registry · Echo agent · Docker Compose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651760"/>
            <a:ext cx="11155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651760"/>
            <a:ext cx="109728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6517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11680" y="26517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&amp; Planner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265176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IPlanner (Det / LLM / Hybrid) · Snapshot engine · ETag commit · audit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383280"/>
            <a:ext cx="11155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383280"/>
            <a:ext cx="109728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38328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011680" y="33832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Zero-Trust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338328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pipeline · token/tool/PII/checkpoint · JWT + mTLS · Polly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114800"/>
            <a:ext cx="11155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114800"/>
            <a:ext cx="109728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11480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011680" y="41148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46320" y="411480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· cost metrics · job traces · structured logs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846320"/>
            <a:ext cx="11155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846320"/>
            <a:ext cx="109728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48463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011680" y="48463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Frontend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46320" y="484632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catalog · monitor · audit · checkpoints · intent console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5577840"/>
            <a:ext cx="11155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5577840"/>
            <a:ext cx="109728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" y="557784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011680" y="5577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&amp; Extend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846320" y="557784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routing · parallel execution · MCP tools · Prometheus export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0"/>
            <a:ext cx="73152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6304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i="1" dirty="0">
                <a:solidFill>
                  <a:srgbClr val="F5F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mark of power</a:t>
            </a:r>
            <a:endParaRPr lang="en-US" sz="7200" dirty="0"/>
          </a:p>
          <a:p>
            <a:pPr indent="0" marL="0">
              <a:buNone/>
            </a:pPr>
            <a:r>
              <a:rPr lang="en-US" sz="7200" b="1" i="1" dirty="0">
                <a:solidFill>
                  <a:srgbClr val="F5F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binding.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914400" y="4114800"/>
            <a:ext cx="1280160" cy="36576"/>
          </a:xfrm>
          <a:prstGeom prst="rect">
            <a:avLst/>
          </a:prstGeom>
          <a:solidFill>
            <a:srgbClr val="F9B87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42976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Sigil — a hardened Agent OS.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as the source of truth. Agents as ephemeral workers.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6217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· .bob/docs/sigil-architecture-blueprint.md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Sigil — Architecture Blueprint</dc:title>
  <dc:subject>PptxGenJS Presentation</dc:subject>
  <dc:creator>Sigil</dc:creator>
  <cp:lastModifiedBy>Sigil</cp:lastModifiedBy>
  <cp:revision>1</cp:revision>
  <dcterms:created xsi:type="dcterms:W3CDTF">2026-04-20T00:11:00Z</dcterms:created>
  <dcterms:modified xsi:type="dcterms:W3CDTF">2026-04-20T00:11:00Z</dcterms:modified>
</cp:coreProperties>
</file>